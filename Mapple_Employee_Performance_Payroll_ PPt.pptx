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3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A1C-41FC-B431-C6C7CD1ACEEF}"/>
              </c:ext>
            </c:extLst>
          </c:dPt>
          <c:dPt>
            <c:idx val="1"/>
            <c:bubble3D val="0"/>
            <c:spPr>
              <a:solidFill>
                <a:srgbClr val="E87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1C-41FC-B431-C6C7CD1ACEEF}"/>
              </c:ext>
            </c:extLst>
          </c:dPt>
          <c:dPt>
            <c:idx val="2"/>
            <c:bubble3D val="0"/>
            <c:spPr>
              <a:solidFill>
                <a:srgbClr val="1442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1C-41FC-B431-C6C7CD1ACEEF}"/>
              </c:ext>
            </c:extLst>
          </c:dPt>
          <c:dLbls>
            <c:dLbl>
              <c:idx val="0"/>
              <c:numFmt formatCode="#,##0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1C-41FC-B431-C6C7CD1ACEEF}"/>
                </c:ext>
              </c:extLst>
            </c:dLbl>
            <c:dLbl>
              <c:idx val="1"/>
              <c:numFmt formatCode="#,##0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A1C-41FC-B431-C6C7CD1ACEEF}"/>
                </c:ext>
              </c:extLst>
            </c:dLbl>
            <c:dLbl>
              <c:idx val="2"/>
              <c:numFmt formatCode="#,##0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A1C-41FC-B431-C6C7CD1ACEE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663</c:v>
                </c:pt>
                <c:pt idx="1">
                  <c:v>653</c:v>
                </c:pt>
                <c:pt idx="2">
                  <c:v>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1C-41FC-B431-C6C7CD1ACE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of 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90-4B5F-98B2-9599A6F267A7}"/>
              </c:ext>
            </c:extLst>
          </c:dPt>
          <c:dPt>
            <c:idx val="1"/>
            <c:bubble3D val="0"/>
            <c:spPr>
              <a:solidFill>
                <a:srgbClr val="E874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90-4B5F-98B2-9599A6F267A7}"/>
              </c:ext>
            </c:extLst>
          </c:dPt>
          <c:dPt>
            <c:idx val="2"/>
            <c:bubble3D val="0"/>
            <c:spPr>
              <a:solidFill>
                <a:srgbClr val="1442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90-4B5F-98B2-9599A6F267A7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890-4B5F-98B2-9599A6F267A7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890-4B5F-98B2-9599A6F267A7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890-4B5F-98B2-9599A6F267A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Female</c:v>
                </c:pt>
                <c:pt idx="1">
                  <c:v>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663</c:v>
                </c:pt>
                <c:pt idx="1">
                  <c:v>653</c:v>
                </c:pt>
                <c:pt idx="2">
                  <c:v>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890-4B5F-98B2-9599A6F267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of Department</c:v>
                </c:pt>
              </c:strCache>
            </c:strRef>
          </c:tx>
          <c:spPr>
            <a:solidFill>
              <a:srgbClr val="1442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HR</c:v>
                </c:pt>
                <c:pt idx="1">
                  <c:v>IT</c:v>
                </c:pt>
                <c:pt idx="2">
                  <c:v>Sales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659</c:v>
                </c:pt>
                <c:pt idx="1">
                  <c:v>696</c:v>
                </c:pt>
                <c:pt idx="2">
                  <c:v>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DE-4D13-B9D2-715346853F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of Work Shifts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Morning</c:v>
                </c:pt>
                <c:pt idx="1">
                  <c:v>Evening</c:v>
                </c:pt>
                <c:pt idx="2">
                  <c:v>Night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678</c:v>
                </c:pt>
                <c:pt idx="1">
                  <c:v>652</c:v>
                </c:pt>
                <c:pt idx="2">
                  <c:v>670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DA-4786-B5D5-7944337C9CD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 of Branch Locations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Chicago</c:v>
                </c:pt>
                <c:pt idx="1">
                  <c:v>Los Angeles</c:v>
                </c:pt>
                <c:pt idx="2">
                  <c:v>New York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677</c:v>
                </c:pt>
                <c:pt idx="1">
                  <c:v>678</c:v>
                </c:pt>
                <c:pt idx="2">
                  <c:v>645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55-4E0E-97D0-0E43364EAF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Chicago HR</c:v>
                </c:pt>
                <c:pt idx="1">
                  <c:v>Chicago IT</c:v>
                </c:pt>
                <c:pt idx="2">
                  <c:v>Chicago Sales</c:v>
                </c:pt>
                <c:pt idx="3">
                  <c:v>LA HR</c:v>
                </c:pt>
                <c:pt idx="4">
                  <c:v>LA IT</c:v>
                </c:pt>
                <c:pt idx="5">
                  <c:v>LA Sales</c:v>
                </c:pt>
                <c:pt idx="6">
                  <c:v>NY HR</c:v>
                </c:pt>
                <c:pt idx="7">
                  <c:v>NY IT</c:v>
                </c:pt>
                <c:pt idx="8">
                  <c:v>NY Sales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5919.81</c:v>
                </c:pt>
                <c:pt idx="1">
                  <c:v>6084.44</c:v>
                </c:pt>
                <c:pt idx="2">
                  <c:v>5847.54</c:v>
                </c:pt>
                <c:pt idx="3">
                  <c:v>6417.48</c:v>
                </c:pt>
                <c:pt idx="4">
                  <c:v>5959.52</c:v>
                </c:pt>
                <c:pt idx="5">
                  <c:v>5847.5</c:v>
                </c:pt>
                <c:pt idx="6">
                  <c:v>5864.23</c:v>
                </c:pt>
                <c:pt idx="7">
                  <c:v>5758.29</c:v>
                </c:pt>
                <c:pt idx="8">
                  <c:v>6062.57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C1-4C0D-AD47-2C038D14C5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5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3E8E5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Chicago</c:v>
                </c:pt>
                <c:pt idx="1">
                  <c:v>Los Angeles</c:v>
                </c:pt>
                <c:pt idx="2">
                  <c:v>New York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340</c:v>
                </c:pt>
                <c:pt idx="1">
                  <c:v>341</c:v>
                </c:pt>
                <c:pt idx="2">
                  <c:v>326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D5-4479-97E7-E5113A657E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Inactive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Chicago</c:v>
                </c:pt>
                <c:pt idx="1">
                  <c:v>Los Angeles</c:v>
                </c:pt>
                <c:pt idx="2">
                  <c:v>New York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337</c:v>
                </c:pt>
                <c:pt idx="1">
                  <c:v>337</c:v>
                </c:pt>
                <c:pt idx="2">
                  <c:v>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D5-4479-97E7-E5113A657E3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Age</c:v>
                </c:pt>
              </c:strCache>
            </c:strRef>
          </c:tx>
          <c:spPr>
            <a:solidFill>
              <a:srgbClr val="E8743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Chi-HR</c:v>
                </c:pt>
                <c:pt idx="1">
                  <c:v>Chi-IT</c:v>
                </c:pt>
                <c:pt idx="2">
                  <c:v>Chi-Sales</c:v>
                </c:pt>
                <c:pt idx="3">
                  <c:v>LA-HR</c:v>
                </c:pt>
                <c:pt idx="4">
                  <c:v>LA-IT</c:v>
                </c:pt>
                <c:pt idx="5">
                  <c:v>LA-Sales</c:v>
                </c:pt>
                <c:pt idx="6">
                  <c:v>NY-HR</c:v>
                </c:pt>
                <c:pt idx="7">
                  <c:v>NY-IT</c:v>
                </c:pt>
                <c:pt idx="8">
                  <c:v>NY-Sales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41.03</c:v>
                </c:pt>
                <c:pt idx="1">
                  <c:v>39.340000000000003</c:v>
                </c:pt>
                <c:pt idx="2">
                  <c:v>41.47</c:v>
                </c:pt>
                <c:pt idx="3">
                  <c:v>41.59</c:v>
                </c:pt>
                <c:pt idx="4">
                  <c:v>40.31</c:v>
                </c:pt>
                <c:pt idx="5">
                  <c:v>42.03</c:v>
                </c:pt>
                <c:pt idx="6">
                  <c:v>40.46</c:v>
                </c:pt>
                <c:pt idx="7">
                  <c:v>42.94</c:v>
                </c:pt>
                <c:pt idx="8">
                  <c:v>42.17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17-4501-A6AE-85CE9F4B52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"/>
          <a:lstStyle/>
          <a:p>
            <a:pPr>
              <a:defRPr sz="800" b="0" i="0" u="none" strike="noStrike">
                <a:solidFill>
                  <a:srgbClr val="5A6B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0619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1442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D2E4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2E86A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2E86AB">
              <a:alpha val="18000"/>
            </a:srgbClr>
          </a:solidFill>
          <a:ln/>
        </p:spPr>
      </p:sp>
      <p:pic>
        <p:nvPicPr>
          <p:cNvPr id="5" name="Image 0" descr="extract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1417320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EXCELLENCE FOR AI  •  ADVANCED EXCEL PROJECT REPORT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0352" y="2514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Mapple Employee Performance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Payroll Management Analytics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566928" y="4343400"/>
            <a:ext cx="2194560" cy="0"/>
          </a:xfrm>
          <a:prstGeom prst="line">
            <a:avLst/>
          </a:prstGeom>
          <a:noFill/>
          <a:ln w="38100">
            <a:solidFill>
              <a:srgbClr val="E874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526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Pivot-based Excel analytics dashboard evaluating workforce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productivity, compensation structure, and regional payroll allocation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349240"/>
            <a:ext cx="9052560" cy="1143000"/>
          </a:xfrm>
          <a:prstGeom prst="roundRect">
            <a:avLst>
              <a:gd name="adj" fmla="val 6400"/>
            </a:avLst>
          </a:prstGeom>
          <a:solidFill>
            <a:srgbClr val="0D2E40"/>
          </a:solidFill>
          <a:ln w="9525">
            <a:solidFill>
              <a:srgbClr val="2E86AB"/>
            </a:solidFill>
            <a:prstDash val="solid"/>
          </a:ln>
        </p:spPr>
      </p:sp>
      <p:pic>
        <p:nvPicPr>
          <p:cNvPr id="11" name="Image 1" descr="icons/users_E874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5778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5577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Somnath Mondal  </a:t>
            </a: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(AF05325748)   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Arpita Dhar  </a:t>
            </a: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(AF05325379)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17320" y="59253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Trainer: Sayan Sau      Duration: 4 Days      Submission: 28/08/2026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data-driven Excel analytics framework to evaluate workforce productivity, compensation structure, demographic distribution, and regional payroll allocations — using 2,000 real employee records sourced from Kaggle.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evaluates compensation consistency across HR, IT, and Sales, tracks experience-to-salary progression, measures appraisal coverage gaps, and models employee retention across three major corporate locations.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41732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pic>
        <p:nvPicPr>
          <p:cNvPr id="7" name="Image 0" descr="icons/database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086600" y="2350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464040" y="141732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pic>
        <p:nvPicPr>
          <p:cNvPr id="11" name="Image 1" descr="icons/layers_E874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6002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46920" y="19202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9646920" y="2350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Attributes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903720" y="288036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pic>
        <p:nvPicPr>
          <p:cNvPr id="15" name="Image 2" descr="icons/map_E874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30632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7086600" y="3813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Locations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464040" y="2880360"/>
            <a:ext cx="233172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8000"/>
              </a:srgbClr>
            </a:outerShdw>
          </a:effectLst>
        </p:spPr>
      </p:sp>
      <p:pic>
        <p:nvPicPr>
          <p:cNvPr id="19" name="Image 3" descr="icons/briefcase_E874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30632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46920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9646920" y="3813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Analyzed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48640" y="50749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14425A"/>
          </a:solidFill>
          <a:ln/>
        </p:spPr>
      </p:sp>
      <p:pic>
        <p:nvPicPr>
          <p:cNvPr id="23" name="Image 4" descr="icons/target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367528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513892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Transform disjointed HR data into a single interactive Pivot-based dashboard that supports fair pay, performance tracking, and regional cost decisions.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enterprise HR operations frequently face structural inefficiencies due to disjointed compensation models, missing appraisal records, and unmonitored regional payroll disparities.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51760" cy="37033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468880"/>
            <a:ext cx="640080" cy="64008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7" name="Image 0" descr="icons/doll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606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33756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Compensation Disconnect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clear alignment between employee experience, age, and pay — leading to wage compression or arbitrary pay scales.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9856" y="2148840"/>
            <a:ext cx="2651760" cy="37033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25696" y="2468880"/>
            <a:ext cx="640080" cy="64008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12" name="Image 1" descr="icons/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2606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333756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Tracking Gaps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02736" y="4023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annual performance evaluations leave management without data to distribute merit-based bonuses.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91072" y="2148840"/>
            <a:ext cx="2651760" cy="37033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96912" y="2468880"/>
            <a:ext cx="640080" cy="64008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17" name="Image 2" descr="icons/m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2606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33756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Cost Variances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73952" y="4023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Unmonitored regional payroll variances across Chicago, LA, and New York create budget overruns without proportional output.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62288" y="2148840"/>
            <a:ext cx="2651760" cy="370332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168128" y="2468880"/>
            <a:ext cx="640080" cy="64008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22" name="Image 3" descr="icons/aler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5288" y="26060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337560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Attrition &amp; Inactivity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345168" y="402336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50% of employee accounts are inactive, complicating headcount planning and resource optimization.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998464"/>
            <a:ext cx="11109960" cy="512064"/>
          </a:xfrm>
          <a:prstGeom prst="roundRect">
            <a:avLst>
              <a:gd name="adj" fmla="val 14286"/>
            </a:avLst>
          </a:prstGeom>
          <a:solidFill>
            <a:srgbClr val="14425A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5998464"/>
            <a:ext cx="10652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four gaps compound into inconsistent pay, incomplete appraisals, budget overruns, and stale headcount data.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57276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a data-driven Excel analytics framework to evaluate workforce productivity and compensation structure.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64808" y="1664208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132320" y="157276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compensation consistency across functional departments — HR, IT, and Sales.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35584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26440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experience-to-salary progression across the organization.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15468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3355848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32320" y="326440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appraisal coverage gaps in performance rating data.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047488"/>
            <a:ext cx="502920" cy="502920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5047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95604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employee retention dynamics across major corporate locations.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48463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64808" y="5047488"/>
            <a:ext cx="502920" cy="5029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5047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956048"/>
            <a:ext cx="43434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interactive, structured Pivot-based analytical dashboard for decision-making.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individual employee records spanning 12 transactional attributes, sourced from Kaggle.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14425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611880" cy="777240"/>
          </a:xfrm>
          <a:prstGeom prst="rect">
            <a:avLst/>
          </a:prstGeom>
          <a:solidFill>
            <a:srgbClr val="0D2E40"/>
          </a:solidFill>
          <a:ln/>
        </p:spPr>
      </p:sp>
      <p:pic>
        <p:nvPicPr>
          <p:cNvPr id="7" name="Image 0" descr="icons/users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920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4672" y="296265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 &amp; Name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04672" y="373989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range 18–65 (avg 41.25 yrs)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" y="451713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— Female 663 · Male 653 · Other 684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43400" y="192024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14425A"/>
          </a:solidFill>
          <a:ln/>
        </p:spPr>
      </p:sp>
      <p:sp>
        <p:nvSpPr>
          <p:cNvPr id="16" name="Shape 13"/>
          <p:cNvSpPr/>
          <p:nvPr/>
        </p:nvSpPr>
        <p:spPr>
          <a:xfrm>
            <a:off x="4343400" y="1920240"/>
            <a:ext cx="3611880" cy="777240"/>
          </a:xfrm>
          <a:prstGeom prst="rect">
            <a:avLst/>
          </a:prstGeom>
          <a:solidFill>
            <a:srgbClr val="0D2E40"/>
          </a:solidFill>
          <a:ln/>
        </p:spPr>
      </p:sp>
      <p:pic>
        <p:nvPicPr>
          <p:cNvPr id="17" name="Image 1" descr="icons/briefcase_E874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10312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0" y="1920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Operations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99432" y="296265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0" name="Text 16"/>
          <p:cNvSpPr/>
          <p:nvPr/>
        </p:nvSpPr>
        <p:spPr>
          <a:xfrm>
            <a:off x="480060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— HR 659 · IT 696 · Sales 645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4599432" y="373989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2" name="Text 18"/>
          <p:cNvSpPr/>
          <p:nvPr/>
        </p:nvSpPr>
        <p:spPr>
          <a:xfrm>
            <a:off x="480060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— Chicago 677 · LA 678 · New York 645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4599432" y="451713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4" name="Text 20"/>
          <p:cNvSpPr/>
          <p:nvPr/>
        </p:nvSpPr>
        <p:spPr>
          <a:xfrm>
            <a:off x="480060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— Morning 678 · Evening 652 · Night 670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599432" y="529437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26" name="Text 22"/>
          <p:cNvSpPr/>
          <p:nvPr/>
        </p:nvSpPr>
        <p:spPr>
          <a:xfrm>
            <a:off x="4800600" y="52120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Active 1,007 · Inactive 993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38160" y="192024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14425A"/>
          </a:solidFill>
          <a:ln/>
        </p:spPr>
      </p:sp>
      <p:sp>
        <p:nvSpPr>
          <p:cNvPr id="28" name="Shape 24"/>
          <p:cNvSpPr/>
          <p:nvPr/>
        </p:nvSpPr>
        <p:spPr>
          <a:xfrm>
            <a:off x="8138160" y="1920240"/>
            <a:ext cx="3611880" cy="777240"/>
          </a:xfrm>
          <a:prstGeom prst="rect">
            <a:avLst/>
          </a:prstGeom>
          <a:solidFill>
            <a:srgbClr val="0D2E40"/>
          </a:solidFill>
          <a:ln/>
        </p:spPr>
      </p:sp>
      <p:pic>
        <p:nvPicPr>
          <p:cNvPr id="29" name="Image 2" descr="icons/dollar_E874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103120"/>
            <a:ext cx="411480" cy="4114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915400" y="1920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Financials &amp; Performance</a:t>
            </a:r>
            <a:endParaRPr lang="en-US" sz="1500" dirty="0"/>
          </a:p>
        </p:txBody>
      </p:sp>
      <p:sp>
        <p:nvSpPr>
          <p:cNvPr id="31" name="Shape 26"/>
          <p:cNvSpPr/>
          <p:nvPr/>
        </p:nvSpPr>
        <p:spPr>
          <a:xfrm>
            <a:off x="8394192" y="296265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32" name="Text 27"/>
          <p:cNvSpPr/>
          <p:nvPr/>
        </p:nvSpPr>
        <p:spPr>
          <a:xfrm>
            <a:off x="8595360" y="28803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salary: $2,015 – $9,993 (avg $5,971.31)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8394192" y="373989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34" name="Text 29"/>
          <p:cNvSpPr/>
          <p:nvPr/>
        </p:nvSpPr>
        <p:spPr>
          <a:xfrm>
            <a:off x="859536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experience: 1–20 yrs (avg 10.27 yrs)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8394192" y="4517136"/>
            <a:ext cx="82296" cy="82296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36" name="Text 31"/>
          <p:cNvSpPr/>
          <p:nvPr/>
        </p:nvSpPr>
        <p:spPr>
          <a:xfrm>
            <a:off x="8595360" y="4434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rating (1.0–5.0): 989 recorded, 1,011 null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109728"/>
          </a:xfrm>
          <a:prstGeom prst="round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594360" cy="59436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8" name="Image 0" descr="icons/filt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31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Transform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automated cleaning — standardized text formats, date formatting, missing-value imputation, and categorical indexing.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36392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410712" y="160020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0712" y="1600200"/>
            <a:ext cx="2606040" cy="109728"/>
          </a:xfrm>
          <a:prstGeom prst="roundRect">
            <a:avLst/>
          </a:prstGeom>
          <a:solidFill>
            <a:srgbClr val="E8743B"/>
          </a:solidFill>
          <a:ln/>
        </p:spPr>
      </p:sp>
      <p:sp>
        <p:nvSpPr>
          <p:cNvPr id="14" name="Text 11"/>
          <p:cNvSpPr/>
          <p:nvPr/>
        </p:nvSpPr>
        <p:spPr>
          <a:xfrm>
            <a:off x="3639312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39312" y="2286000"/>
            <a:ext cx="594360" cy="59436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16" name="Image 1" descr="icons/activit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42316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39312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&amp; Flag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3639312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COUNTIF, AVERAGEIFS, SUMIFS, MAX/MIN, XLOOKUP, dynamic matrix formulas and conditional logical flags.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98464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272784" y="160020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72784" y="1600200"/>
            <a:ext cx="2606040" cy="109728"/>
          </a:xfrm>
          <a:prstGeom prst="roundRect">
            <a:avLst/>
          </a:prstGeom>
          <a:solidFill>
            <a:srgbClr val="2E86AB"/>
          </a:solidFill>
          <a:ln/>
        </p:spPr>
      </p:sp>
      <p:sp>
        <p:nvSpPr>
          <p:cNvPr id="22" name="Text 18"/>
          <p:cNvSpPr/>
          <p:nvPr/>
        </p:nvSpPr>
        <p:spPr>
          <a:xfrm>
            <a:off x="6501384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6501384" y="2286000"/>
            <a:ext cx="594360" cy="59436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24" name="Image 2" descr="icons/gri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423160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501384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Aggregate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6501384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Pivot Tables, Pivot Charts, timeline slicers, and multi-variable cross-tabulations.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860536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9134856" y="1600200"/>
            <a:ext cx="2606040" cy="42976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134856" y="1600200"/>
            <a:ext cx="2606040" cy="109728"/>
          </a:xfrm>
          <a:prstGeom prst="roundRect">
            <a:avLst/>
          </a:prstGeom>
          <a:solidFill>
            <a:srgbClr val="E8743B"/>
          </a:solidFill>
          <a:ln/>
        </p:spPr>
      </p:sp>
      <p:sp>
        <p:nvSpPr>
          <p:cNvPr id="30" name="Text 25"/>
          <p:cNvSpPr/>
          <p:nvPr/>
        </p:nvSpPr>
        <p:spPr>
          <a:xfrm>
            <a:off x="9363456" y="1920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9363456" y="2286000"/>
            <a:ext cx="594360" cy="59436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32" name="Image 3" descr="icons/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0616" y="2423160"/>
            <a:ext cx="320040" cy="3200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63456" y="30632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Dashboard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9363456" y="3657600"/>
            <a:ext cx="2148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scorecards, visual hierarchy formatting, color-coded status badges, and interactive control slicers.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0D2E40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5" name="Image 0" descr="icons/users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733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02082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1520" y="242316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Headcount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47288" y="1508760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0D2E40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9" name="Image 1" descr="icons/dollar_E874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167335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30168" y="2020824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$11.94M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3630168" y="242316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Payroll Expense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2898648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0D2E40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3" name="Image 2" descr="icons/trending_E8743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6324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" y="341071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$5,971.31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31520" y="381304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Salary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447288" y="2898648"/>
            <a:ext cx="2679192" cy="1170432"/>
          </a:xfrm>
          <a:prstGeom prst="roundRect">
            <a:avLst>
              <a:gd name="adj" fmla="val 7031"/>
            </a:avLst>
          </a:prstGeom>
          <a:solidFill>
            <a:srgbClr val="0D2E40"/>
          </a:solidFill>
          <a:ln w="12700">
            <a:solidFill>
              <a:srgbClr val="2E86AB"/>
            </a:solidFill>
            <a:prstDash val="solid"/>
          </a:ln>
        </p:spPr>
      </p:sp>
      <p:pic>
        <p:nvPicPr>
          <p:cNvPr id="17" name="Image 3" descr="icons/award_E8743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168" y="306324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30168" y="3410712"/>
            <a:ext cx="2313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10.27 yrs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3630168" y="3813048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Tenure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Controls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4553712"/>
            <a:ext cx="557784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22" name="Text 16"/>
          <p:cNvSpPr/>
          <p:nvPr/>
        </p:nvSpPr>
        <p:spPr>
          <a:xfrm>
            <a:off x="777240" y="45537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— Chicago, Los Angeles, New York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5129784"/>
            <a:ext cx="557784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24" name="Text 18"/>
          <p:cNvSpPr/>
          <p:nvPr/>
        </p:nvSpPr>
        <p:spPr>
          <a:xfrm>
            <a:off x="777240" y="512978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— HR, IT, Sales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48640" y="5705856"/>
            <a:ext cx="5577840" cy="4572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</p:sp>
      <p:sp>
        <p:nvSpPr>
          <p:cNvPr id="26" name="Text 20"/>
          <p:cNvSpPr/>
          <p:nvPr/>
        </p:nvSpPr>
        <p:spPr>
          <a:xfrm>
            <a:off x="777240" y="570585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Active, Inactive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61722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Alerts:  </a:t>
            </a:r>
            <a:r>
              <a:rPr lang="en-US" sz="95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outliers, low scores &amp; incomplete evaluations.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6446520" y="1508760"/>
            <a:ext cx="5193792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67208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Distribution</a:t>
            </a:r>
            <a:endParaRPr lang="en-US" sz="135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6629400" y="2103120"/>
          <a:ext cx="48463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1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270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Gender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874520"/>
          <a:ext cx="48006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4173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5270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Department</a:t>
            </a:r>
            <a:endParaRPr lang="en-US" sz="125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355080" y="1874520"/>
          <a:ext cx="5166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39776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731520" y="40873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Work Shifts</a:t>
            </a:r>
            <a:endParaRPr lang="en-US" sz="125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685800" y="4434840"/>
          <a:ext cx="5166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Shape 8"/>
          <p:cNvSpPr/>
          <p:nvPr/>
        </p:nvSpPr>
        <p:spPr>
          <a:xfrm>
            <a:off x="6217920" y="39776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6400800" y="408736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of Branch Locations</a:t>
            </a:r>
            <a:endParaRPr lang="en-US" sz="1250" dirty="0"/>
          </a:p>
        </p:txBody>
      </p:sp>
      <p:graphicFrame>
        <p:nvGraphicFramePr>
          <p:cNvPr id="15" name="Chart 3"/>
          <p:cNvGraphicFramePr/>
          <p:nvPr/>
        </p:nvGraphicFramePr>
        <p:xfrm>
          <a:off x="6355080" y="4434840"/>
          <a:ext cx="5166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Experience vs. Compensation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salary by location and department — Los Angeles HR leads at $6,417.48, while balanced staffing holds experience levels close across all cities.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60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848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Salary by Location &amp; Department ($)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85800" y="2395728"/>
          <a:ext cx="71780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809244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Subtotals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2440" y="2286000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14425A"/>
          </a:solidFill>
          <a:ln/>
        </p:spPr>
      </p:sp>
      <p:sp>
        <p:nvSpPr>
          <p:cNvPr id="10" name="Text 7"/>
          <p:cNvSpPr/>
          <p:nvPr/>
        </p:nvSpPr>
        <p:spPr>
          <a:xfrm>
            <a:off x="827532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Chicago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753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 yrs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7532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Salary: </a:t>
            </a:r>
            <a:r>
              <a:rPr lang="en-US" sz="11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$5,951.57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092440" y="3493008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14425A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Angeles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275320" y="3904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10.41 yrs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75320" y="4178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Salary: </a:t>
            </a:r>
            <a:r>
              <a:rPr lang="en-US" sz="11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$6,068.58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092440" y="4700016"/>
            <a:ext cx="3566160" cy="1051560"/>
          </a:xfrm>
          <a:prstGeom prst="roundRect">
            <a:avLst>
              <a:gd name="adj" fmla="val 6087"/>
            </a:avLst>
          </a:prstGeom>
          <a:solidFill>
            <a:srgbClr val="14425A"/>
          </a:solidFill>
          <a:ln/>
        </p:spPr>
      </p:sp>
      <p:sp>
        <p:nvSpPr>
          <p:cNvPr id="18" name="Text 15"/>
          <p:cNvSpPr/>
          <p:nvPr/>
        </p:nvSpPr>
        <p:spPr>
          <a:xfrm>
            <a:off x="8275320" y="47914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York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75320" y="5111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Exp: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10.41 yrs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75320" y="53858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Salary: </a:t>
            </a:r>
            <a:r>
              <a:rPr lang="en-US" sz="11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$5,889.78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ANALYSIS III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 &amp; Employment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vs. Inactive Headcount by Location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85800" y="2148840"/>
          <a:ext cx="51663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46304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0" y="16276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Age by Location &amp; Department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309360" y="2148840"/>
          <a:ext cx="516636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64208"/>
            <a:ext cx="548640" cy="54864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6" name="Image 0" descr="icons/trend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79222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Earning Segment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HR professionals command the highest average salary at $6,417.48 with 10.96 years of experience. New York IT is the lowest at $5,758.29.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19088" y="1664208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1" name="Image 1" descr="icons/activit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1792224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459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 Wage-to-Experience Curve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46520" y="23774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average experience is 10.27 years against $5,971.31 average pay — minimal variance between junior and senior staff.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178808"/>
            <a:ext cx="548640" cy="548640"/>
          </a:xfrm>
          <a:prstGeom prst="ellipse">
            <a:avLst/>
          </a:prstGeom>
          <a:solidFill>
            <a:srgbClr val="14425A"/>
          </a:solidFill>
          <a:ln/>
        </p:spPr>
      </p:sp>
      <p:pic>
        <p:nvPicPr>
          <p:cNvPr id="16" name="Image 2" descr="icons/clipboar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30682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1605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Rating Gap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77240" y="48920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50% of employee profiles (1,011 of 2,000) lack an assigned performance score — appraisal systems need tighter integration with payroll.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76200" dist="25400" dir="5400000" algn="bl" rotWithShape="0">
              <a:srgbClr val="1B2733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19088" y="4178808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1" name="Image 3" descr="icons/c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306824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160520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Shift Coverage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46520" y="489204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is spread evenly across Morning (678), Evening (652), and Night (670) shifts — solid operational coverage around the clock.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Performance &amp; Payroll Analytics Dashboard transforms raw workforce transactional data into a powerful decision-making system.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addressing key operational gaps — unrecorded performance ratings, flat pay-to-experience progression, and regional cost differences — organization leadership can optimize payroll allocation, improve employee performance evaluation, and foster sustained retention.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1600" dirty="0"/>
          </a:p>
        </p:txBody>
      </p:sp>
      <p:pic>
        <p:nvPicPr>
          <p:cNvPr id="7" name="Image 0" descr="icons/check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044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83133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multi-variable dynamic Pivot Table creation, custom grouping, and cross-tabulation</a:t>
            </a:r>
            <a:endParaRPr lang="en-US" sz="1250" dirty="0"/>
          </a:p>
        </p:txBody>
      </p:sp>
      <p:pic>
        <p:nvPicPr>
          <p:cNvPr id="9" name="Image 1" descr="icons/check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074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433425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raw Kaggle HR data using Power Query and advanced cleaning routines</a:t>
            </a:r>
            <a:endParaRPr lang="en-US" sz="1250" dirty="0"/>
          </a:p>
        </p:txBody>
      </p:sp>
      <p:pic>
        <p:nvPicPr>
          <p:cNvPr id="11" name="Image 2" descr="icons/check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91032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0120" y="483717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 interactive executive dashboard with KPI scorecards, alerts, and slicers</a:t>
            </a:r>
            <a:endParaRPr lang="en-US" sz="1250" dirty="0"/>
          </a:p>
        </p:txBody>
      </p:sp>
      <p:pic>
        <p:nvPicPr>
          <p:cNvPr id="13" name="Image 3" descr="icons/check_E874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1324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120" y="5340096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actionable business recommendations from demographics, salary, and rating data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822960" cy="1051560"/>
          </a:xfrm>
          <a:prstGeom prst="roundRect">
            <a:avLst>
              <a:gd name="adj" fmla="val 8889"/>
            </a:avLst>
          </a:prstGeom>
          <a:solidFill>
            <a:srgbClr val="14425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463040"/>
            <a:ext cx="411480" cy="1051560"/>
          </a:xfrm>
          <a:prstGeom prst="rect">
            <a:avLst/>
          </a:prstGeom>
          <a:solidFill>
            <a:srgbClr val="14425A"/>
          </a:solidFill>
          <a:ln/>
        </p:spPr>
      </p:sp>
      <p:pic>
        <p:nvPicPr>
          <p:cNvPr id="7" name="Image 0" descr="icons/dolla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7876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5544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Merit-Based Pay Bands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303520" y="155448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compensation tiers based on experience and performance scores to ensure equitable salary growth and boost retention.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697480"/>
            <a:ext cx="822960" cy="1051560"/>
          </a:xfrm>
          <a:prstGeom prst="roundRect">
            <a:avLst>
              <a:gd name="adj" fmla="val 8889"/>
            </a:avLst>
          </a:prstGeom>
          <a:solidFill>
            <a:srgbClr val="2E86AB"/>
          </a:solidFill>
          <a:ln/>
        </p:spPr>
      </p:sp>
      <p:sp>
        <p:nvSpPr>
          <p:cNvPr id="12" name="Shape 9"/>
          <p:cNvSpPr/>
          <p:nvPr/>
        </p:nvSpPr>
        <p:spPr>
          <a:xfrm>
            <a:off x="960120" y="2697480"/>
            <a:ext cx="411480" cy="105156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13" name="Image 1" descr="icons/clipboar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0220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7889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Mandate Performance Appraisal Tracking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303520" y="278892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quarterly appraisal deadlines to resolve the current 50.55% gap in performance rating data.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931920"/>
            <a:ext cx="822960" cy="1051560"/>
          </a:xfrm>
          <a:prstGeom prst="roundRect">
            <a:avLst>
              <a:gd name="adj" fmla="val 8889"/>
            </a:avLst>
          </a:prstGeom>
          <a:solidFill>
            <a:srgbClr val="14425A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931920"/>
            <a:ext cx="411480" cy="1051560"/>
          </a:xfrm>
          <a:prstGeom prst="rect">
            <a:avLst/>
          </a:prstGeom>
          <a:solidFill>
            <a:srgbClr val="14425A"/>
          </a:solidFill>
          <a:ln/>
        </p:spPr>
      </p:sp>
      <p:pic>
        <p:nvPicPr>
          <p:cNvPr id="19" name="Image 2" descr="icons/map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25653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0233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Regional HR Allocation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303520" y="402336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compensation in Los Angeles HR ($6,417.48 average) and realign salary benchmarks across regional offices.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AEE"/>
            </a:solidFill>
            <a:prstDash val="solid"/>
          </a:ln>
          <a:effectLst>
            <a:outerShdw blurRad="63500" dist="25400" dir="5400000" algn="bl" rotWithShape="0">
              <a:srgbClr val="1B2733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5166360"/>
            <a:ext cx="822960" cy="1051560"/>
          </a:xfrm>
          <a:prstGeom prst="roundRect">
            <a:avLst>
              <a:gd name="adj" fmla="val 8889"/>
            </a:avLst>
          </a:prstGeom>
          <a:solidFill>
            <a:srgbClr val="2E86AB"/>
          </a:solidFill>
          <a:ln/>
        </p:spPr>
      </p:sp>
      <p:sp>
        <p:nvSpPr>
          <p:cNvPr id="24" name="Shape 19"/>
          <p:cNvSpPr/>
          <p:nvPr/>
        </p:nvSpPr>
        <p:spPr>
          <a:xfrm>
            <a:off x="960120" y="5166360"/>
            <a:ext cx="411480" cy="105156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25" name="Image 3" descr="icons/user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5490972"/>
            <a:ext cx="402336" cy="40233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52578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42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Inactive Employee Accounts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303520" y="525780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 thorough audit of the 993 inactive profiles to keep system records current and reduce administrative overhead.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Performance &amp; Payroll Dashboard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5029200" cy="5029200"/>
          </a:xfrm>
          <a:prstGeom prst="ellipse">
            <a:avLst/>
          </a:prstGeom>
          <a:solidFill>
            <a:srgbClr val="0D2E4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840480"/>
            <a:ext cx="4754880" cy="4754880"/>
          </a:xfrm>
          <a:prstGeom prst="ellipse">
            <a:avLst/>
          </a:prstGeom>
          <a:solidFill>
            <a:srgbClr val="0D2E40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731520"/>
            <a:ext cx="2011680" cy="2011680"/>
          </a:xfrm>
          <a:prstGeom prst="ellipse">
            <a:avLst/>
          </a:prstGeom>
          <a:solidFill>
            <a:srgbClr val="2E86AB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23317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394960" y="3383280"/>
            <a:ext cx="1371600" cy="0"/>
          </a:xfrm>
          <a:prstGeom prst="line">
            <a:avLst/>
          </a:prstGeom>
          <a:noFill/>
          <a:ln w="38100">
            <a:solidFill>
              <a:srgbClr val="E874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52044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Somnath Mondal (AF05325748)   ·   Arpita Dhar (AF05325379)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8006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Somnaths13   ·   adarpitadhar13-DA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0" y="5193792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of Excellence for AI  —  Advanced Excel Project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741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1196</Words>
  <Application>Microsoft Office PowerPoint</Application>
  <PresentationFormat>Widescreen</PresentationFormat>
  <Paragraphs>197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Anudip</cp:lastModifiedBy>
  <cp:revision>2</cp:revision>
  <dcterms:created xsi:type="dcterms:W3CDTF">2026-08-28T07:24:05Z</dcterms:created>
  <dcterms:modified xsi:type="dcterms:W3CDTF">2026-08-28T07:37:17Z</dcterms:modified>
</cp:coreProperties>
</file>